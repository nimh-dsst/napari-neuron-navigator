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43891200" cy="32918400"/>
  <p:notesSz cx="32918400" cy="43891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6301"/>
  </p:normalViewPr>
  <p:slideViewPr>
    <p:cSldViewPr snapToGrid="0" snapToObjects="1">
      <p:cViewPr varScale="1">
        <p:scale>
          <a:sx n="24" d="100"/>
          <a:sy n="24" d="100"/>
        </p:scale>
        <p:origin x="2024"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1126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Recreated landscape poster template. Replace title, authors, affiliations, section contents, and QR code/logo block as needed.</a:t>
            </a:r>
          </a:p>
          <a:p>
            <a:pPr algn="l">
              <a:buNone/>
            </a:pPr>
            <a:r>
              <a:rPr lang="en-US" sz="1200" b="0">
                <a:solidFill>
                  <a:srgbClr val="253B4D"/>
                </a:solidFill>
                <a:latin typeface="Arial"/>
              </a:rPr>
              <a:t>Step 0 provenance: Diagram added and rebuilt 2026-10-07 from workflow Steps 0A–0H; step numbers are omitted from the diagram. References 1–2: SWC datasets; 3–4: flatmap paper and Zenodo v4.1; 5: atlas-enhancement fork and the 25 µm resampling utility at ea735eacdfe8afc40d006d80caefd54d6b30fdd3; 6: Neuron Navigator; 7: Pixi; 8: Allen CCFv3 (atlas obtained through BrainGlobe). Neuron Parquet is the plugin SWC-conversion output. 25 µm NRRDs feed whole-Parquet flatmap/depth augmentation; the Allen atlas also supplies their target grid. The regional sidecar is built from the chosen neuron Parquet and compatible atlas; flatmap augmentation is part of this poster's preparation order, not a requirement for all regional sidecars. Pixi also manages the fork's separate preparation environment. This schematic records dependencies, not completed downloads or new analysis results. See workflow for exact parameters, strict versus harmonic provenance, hashes, and remaining run-record fields.</a:t>
            </a:r>
            <a:endParaRPr lang="en-US" sz="1200"/>
          </a:p>
          <a:p>
            <a:pPr algn="l">
              <a:buNone/>
            </a:pPr>
            <a:r>
              <a:rPr lang="en-US" sz="1200" b="0">
                <a:solidFill>
                  <a:srgbClr val="253B4D"/>
                </a:solidFill>
                <a:latin typeface="Arial"/>
              </a:rPr>
              <a:t>Introduction draft (2026-10-07): Hooks et al. (2018), Nature Communications 9, 3549, DOI 10.1038/s41467-018-05780-7, added as reference 9. Background draws on the Introduction and Figures 1 and 7. The MOs soma-selection and projection-clustering sequence is a planned attempt to distinguish IT-like/PT-like projection anatomy, not a completed result. The development count of 18,621 is not a measured MOs count. Five clusters is an exploratory resolution, not a count of biological types; no layer-5 filter is implied. Hooks et al. compare fluorescence intensities, whereas Neuron Navigator correlates per-neuron voxel node counts. Preserve file_id and record type-filter exclusions and morphology checks. The exact draft and pending screenshot/analysis provenance are in poster/neuron_navigator_MOs_poster_workflow.md.</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3891200" cy="429768"/>
          </a:xfrm>
          <a:prstGeom prst="rect">
            <a:avLst/>
          </a:prstGeom>
          <a:solidFill>
            <a:srgbClr val="3B78B0"/>
          </a:solidFill>
          <a:ln w="12700">
            <a:solidFill>
              <a:srgbClr val="3B78B0">
                <a:alpha val="0"/>
              </a:srgbClr>
            </a:solidFill>
            <a:prstDash val="solid"/>
          </a:ln>
        </p:spPr>
        <p:txBody>
          <a:bodyPr/>
          <a:lstStyle/>
          <a:p>
            <a:endParaRPr/>
          </a:p>
        </p:txBody>
      </p:sp>
      <p:sp>
        <p:nvSpPr>
          <p:cNvPr id="3" name="Shape 1"/>
          <p:cNvSpPr/>
          <p:nvPr/>
        </p:nvSpPr>
        <p:spPr>
          <a:xfrm>
            <a:off x="0" y="429768"/>
            <a:ext cx="43891200" cy="384048"/>
          </a:xfrm>
          <a:prstGeom prst="rect">
            <a:avLst/>
          </a:prstGeom>
          <a:solidFill>
            <a:srgbClr val="666666"/>
          </a:solidFill>
          <a:ln w="12700">
            <a:solidFill>
              <a:srgbClr val="666666">
                <a:alpha val="0"/>
              </a:srgbClr>
            </a:solidFill>
            <a:prstDash val="solid"/>
          </a:ln>
        </p:spPr>
        <p:txBody>
          <a:bodyPr/>
          <a:lstStyle/>
          <a:p>
            <a:endParaRPr/>
          </a:p>
        </p:txBody>
      </p:sp>
      <p:sp>
        <p:nvSpPr>
          <p:cNvPr id="4" name="Shape 2"/>
          <p:cNvSpPr/>
          <p:nvPr/>
        </p:nvSpPr>
        <p:spPr>
          <a:xfrm>
            <a:off x="0" y="32104584"/>
            <a:ext cx="43891200" cy="384048"/>
          </a:xfrm>
          <a:prstGeom prst="rect">
            <a:avLst/>
          </a:prstGeom>
          <a:solidFill>
            <a:srgbClr val="666666"/>
          </a:solidFill>
          <a:ln w="12700">
            <a:solidFill>
              <a:srgbClr val="666666">
                <a:alpha val="0"/>
              </a:srgbClr>
            </a:solidFill>
            <a:prstDash val="solid"/>
          </a:ln>
        </p:spPr>
        <p:txBody>
          <a:bodyPr/>
          <a:lstStyle/>
          <a:p>
            <a:endParaRPr/>
          </a:p>
        </p:txBody>
      </p:sp>
      <p:sp>
        <p:nvSpPr>
          <p:cNvPr id="5" name="Shape 3"/>
          <p:cNvSpPr/>
          <p:nvPr/>
        </p:nvSpPr>
        <p:spPr>
          <a:xfrm>
            <a:off x="0" y="32488632"/>
            <a:ext cx="43891200" cy="429768"/>
          </a:xfrm>
          <a:prstGeom prst="rect">
            <a:avLst/>
          </a:prstGeom>
          <a:solidFill>
            <a:srgbClr val="3B78B0"/>
          </a:solidFill>
          <a:ln w="12700">
            <a:solidFill>
              <a:srgbClr val="3B78B0">
                <a:alpha val="0"/>
              </a:srgbClr>
            </a:solidFill>
            <a:prstDash val="solid"/>
          </a:ln>
        </p:spPr>
        <p:txBody>
          <a:bodyPr/>
          <a:lstStyle/>
          <a:p>
            <a:endParaRPr/>
          </a:p>
        </p:txBody>
      </p:sp>
      <p:sp>
        <p:nvSpPr>
          <p:cNvPr id="6" name="Text 4"/>
          <p:cNvSpPr/>
          <p:nvPr/>
        </p:nvSpPr>
        <p:spPr>
          <a:xfrm>
            <a:off x="0" y="1243584"/>
            <a:ext cx="43891200" cy="2240280"/>
          </a:xfrm>
          <a:prstGeom prst="rect">
            <a:avLst/>
          </a:prstGeom>
          <a:noFill/>
          <a:ln/>
        </p:spPr>
        <p:txBody>
          <a:bodyPr wrap="square" lIns="0" tIns="0" rIns="0" bIns="0" rtlCol="0" anchor="ctr">
            <a:normAutofit/>
          </a:bodyPr>
          <a:lstStyle/>
          <a:p>
            <a:pPr marL="0" indent="0" algn="ctr">
              <a:buNone/>
            </a:pPr>
            <a:r>
              <a:rPr lang="en-US" sz="6000" b="1" dirty="0">
                <a:solidFill>
                  <a:srgbClr val="3F7FB7"/>
                </a:solidFill>
                <a:latin typeface="Arial" pitchFamily="34" charset="0"/>
                <a:ea typeface="Arial" pitchFamily="34" charset="-122"/>
                <a:cs typeface="Arial" pitchFamily="34" charset="-120"/>
              </a:rPr>
              <a:t>Neuron Navigator: a napari Plugin for Interactive</a:t>
            </a:r>
            <a:r>
              <a:rPr lang="en-US" sz="6000" dirty="0"/>
              <a:t> </a:t>
            </a:r>
            <a:r>
              <a:rPr lang="en-US" sz="6000" b="1" dirty="0">
                <a:solidFill>
                  <a:srgbClr val="3F7FB7"/>
                </a:solidFill>
                <a:latin typeface="Arial" pitchFamily="34" charset="0"/>
                <a:ea typeface="Arial" pitchFamily="34" charset="-122"/>
                <a:cs typeface="Arial" pitchFamily="34" charset="-120"/>
              </a:rPr>
              <a:t>Cluster Analysis of Large Numbers of Neuron</a:t>
            </a:r>
            <a:r>
              <a:rPr lang="en-US" sz="6000" dirty="0"/>
              <a:t> </a:t>
            </a:r>
            <a:r>
              <a:rPr lang="en-US" sz="6000" b="1" dirty="0">
                <a:solidFill>
                  <a:srgbClr val="3F7FB7"/>
                </a:solidFill>
                <a:latin typeface="Arial" pitchFamily="34" charset="0"/>
                <a:ea typeface="Arial" pitchFamily="34" charset="-122"/>
                <a:cs typeface="Arial" pitchFamily="34" charset="-120"/>
              </a:rPr>
              <a:t>Reconstructions</a:t>
            </a:r>
            <a:endParaRPr lang="en-US" sz="6000" dirty="0"/>
          </a:p>
        </p:txBody>
      </p:sp>
      <p:sp>
        <p:nvSpPr>
          <p:cNvPr id="7" name="Text 5"/>
          <p:cNvSpPr/>
          <p:nvPr/>
        </p:nvSpPr>
        <p:spPr>
          <a:xfrm>
            <a:off x="5605272" y="2894076"/>
            <a:ext cx="32369760" cy="685800"/>
          </a:xfrm>
          <a:prstGeom prst="rect">
            <a:avLst/>
          </a:prstGeom>
          <a:noFill/>
          <a:ln/>
        </p:spPr>
        <p:txBody>
          <a:bodyPr wrap="square" lIns="0" tIns="0" rIns="0" bIns="0" rtlCol="0" anchor="ctr">
            <a:normAutofit/>
          </a:bodyPr>
          <a:lstStyle/>
          <a:p>
            <a:pPr marL="0" indent="0" algn="ctr">
              <a:lnSpc>
                <a:spcPct val="100000"/>
              </a:lnSpc>
              <a:spcBef>
                <a:spcPts val="0"/>
              </a:spcBef>
              <a:spcAft>
                <a:spcPts val="0"/>
              </a:spcAft>
              <a:buNone/>
            </a:pPr>
            <a:r>
              <a:rPr sz="3400" dirty="0">
                <a:solidFill>
                  <a:srgbClr val="666666"/>
                </a:solidFill>
                <a:latin typeface="Arial"/>
              </a:rPr>
              <a:t>Josh Lawrimore¹, Dustin Moraczewski², Charles Gerfen³, Adam Thomas²</a:t>
            </a:r>
            <a:endParaRPr lang="en-US" sz="3400" dirty="0"/>
          </a:p>
        </p:txBody>
      </p:sp>
      <p:sp>
        <p:nvSpPr>
          <p:cNvPr id="8" name="Text 6"/>
          <p:cNvSpPr/>
          <p:nvPr/>
        </p:nvSpPr>
        <p:spPr>
          <a:xfrm>
            <a:off x="4965192" y="3543300"/>
            <a:ext cx="33649920" cy="960120"/>
          </a:xfrm>
          <a:prstGeom prst="rect">
            <a:avLst/>
          </a:prstGeom>
          <a:noFill/>
          <a:ln/>
        </p:spPr>
        <p:txBody>
          <a:bodyPr wrap="square" lIns="0" tIns="0" rIns="0" bIns="0" rtlCol="0" anchor="ctr">
            <a:normAutofit/>
          </a:bodyPr>
          <a:lstStyle/>
          <a:p>
            <a:pPr marL="0" indent="0" algn="ctr">
              <a:lnSpc>
                <a:spcPct val="100000"/>
              </a:lnSpc>
              <a:spcBef>
                <a:spcPts val="0"/>
              </a:spcBef>
              <a:spcAft>
                <a:spcPts val="0"/>
              </a:spcAft>
              <a:buNone/>
            </a:pPr>
            <a:r>
              <a:rPr sz="1800" dirty="0">
                <a:solidFill>
                  <a:srgbClr val="666666"/>
                </a:solidFill>
                <a:latin typeface="Arial"/>
              </a:rPr>
              <a:t>¹Clinical Monitoring Research Program Directorate, Frederick National Laboratory for Cancer Research, Frederick, MD, USA</a:t>
            </a:r>
            <a:endParaRPr lang="en-US" sz="1800" dirty="0"/>
          </a:p>
          <a:p>
            <a:pPr algn="ctr">
              <a:lnSpc>
                <a:spcPct val="100000"/>
              </a:lnSpc>
              <a:spcBef>
                <a:spcPts val="0"/>
              </a:spcBef>
              <a:spcAft>
                <a:spcPts val="0"/>
              </a:spcAft>
            </a:pPr>
            <a:r>
              <a:rPr sz="1800" dirty="0">
                <a:solidFill>
                  <a:srgbClr val="666666"/>
                </a:solidFill>
                <a:latin typeface="Arial"/>
              </a:rPr>
              <a:t>²Data Science &amp; Sharing Team, National Institute of Mental Health, Bethesda, MD, USA</a:t>
            </a:r>
          </a:p>
          <a:p>
            <a:pPr algn="ctr">
              <a:lnSpc>
                <a:spcPct val="100000"/>
              </a:lnSpc>
              <a:spcBef>
                <a:spcPts val="0"/>
              </a:spcBef>
              <a:spcAft>
                <a:spcPts val="0"/>
              </a:spcAft>
            </a:pPr>
            <a:r>
              <a:rPr sz="1800" dirty="0">
                <a:solidFill>
                  <a:srgbClr val="666666"/>
                </a:solidFill>
                <a:latin typeface="Arial"/>
              </a:rPr>
              <a:t>³Section on Neuroanatomy, National Institute of Mental Health, Bethesda, MD, USA</a:t>
            </a:r>
          </a:p>
        </p:txBody>
      </p:sp>
      <p:sp>
        <p:nvSpPr>
          <p:cNvPr id="9" name="Shape 7"/>
          <p:cNvSpPr/>
          <p:nvPr/>
        </p:nvSpPr>
        <p:spPr>
          <a:xfrm>
            <a:off x="1307592" y="4956048"/>
            <a:ext cx="9262872" cy="9733788"/>
          </a:xfrm>
          <a:prstGeom prst="rect">
            <a:avLst/>
          </a:prstGeom>
          <a:solidFill>
            <a:srgbClr val="FFFFFF">
              <a:alpha val="0"/>
            </a:srgbClr>
          </a:solidFill>
          <a:ln w="60960">
            <a:solidFill>
              <a:srgbClr val="3F7FB7"/>
            </a:solidFill>
            <a:prstDash val="solid"/>
          </a:ln>
        </p:spPr>
        <p:txBody>
          <a:bodyPr/>
          <a:lstStyle/>
          <a:p>
            <a:endParaRPr/>
          </a:p>
        </p:txBody>
      </p:sp>
      <p:sp>
        <p:nvSpPr>
          <p:cNvPr id="10" name="Shape 8"/>
          <p:cNvSpPr/>
          <p:nvPr/>
        </p:nvSpPr>
        <p:spPr>
          <a:xfrm>
            <a:off x="1307592" y="15261335"/>
            <a:ext cx="9262872" cy="16568927"/>
          </a:xfrm>
          <a:prstGeom prst="rect">
            <a:avLst/>
          </a:prstGeom>
          <a:solidFill>
            <a:srgbClr val="FFFFFF">
              <a:alpha val="0"/>
            </a:srgbClr>
          </a:solidFill>
          <a:ln w="60960">
            <a:solidFill>
              <a:srgbClr val="3F7FB7"/>
            </a:solidFill>
            <a:prstDash val="solid"/>
          </a:ln>
        </p:spPr>
        <p:txBody>
          <a:bodyPr/>
          <a:lstStyle/>
          <a:p>
            <a:endParaRPr/>
          </a:p>
        </p:txBody>
      </p:sp>
      <p:sp>
        <p:nvSpPr>
          <p:cNvPr id="11" name="Shape 9"/>
          <p:cNvSpPr/>
          <p:nvPr/>
        </p:nvSpPr>
        <p:spPr>
          <a:xfrm>
            <a:off x="11658600" y="4983480"/>
            <a:ext cx="20811744" cy="4306824"/>
          </a:xfrm>
          <a:prstGeom prst="rect">
            <a:avLst/>
          </a:prstGeom>
          <a:solidFill>
            <a:srgbClr val="FFFFFF">
              <a:alpha val="0"/>
            </a:srgbClr>
          </a:solidFill>
          <a:ln w="60960">
            <a:solidFill>
              <a:srgbClr val="68A84E"/>
            </a:solidFill>
            <a:prstDash val="solid"/>
          </a:ln>
        </p:spPr>
        <p:txBody>
          <a:bodyPr/>
          <a:lstStyle/>
          <a:p>
            <a:endParaRPr/>
          </a:p>
        </p:txBody>
      </p:sp>
      <p:sp>
        <p:nvSpPr>
          <p:cNvPr id="12" name="Shape 10"/>
          <p:cNvSpPr/>
          <p:nvPr/>
        </p:nvSpPr>
        <p:spPr>
          <a:xfrm>
            <a:off x="11658600" y="10213848"/>
            <a:ext cx="20830032" cy="21616414"/>
          </a:xfrm>
          <a:prstGeom prst="rect">
            <a:avLst/>
          </a:prstGeom>
          <a:solidFill>
            <a:srgbClr val="FFFFFF">
              <a:alpha val="0"/>
            </a:srgbClr>
          </a:solidFill>
          <a:ln w="60960">
            <a:solidFill>
              <a:srgbClr val="3F7FB7"/>
            </a:solidFill>
            <a:prstDash val="solid"/>
          </a:ln>
        </p:spPr>
        <p:txBody>
          <a:bodyPr/>
          <a:lstStyle/>
          <a:p>
            <a:endParaRPr/>
          </a:p>
        </p:txBody>
      </p:sp>
      <p:sp>
        <p:nvSpPr>
          <p:cNvPr id="13" name="Shape 11"/>
          <p:cNvSpPr/>
          <p:nvPr/>
        </p:nvSpPr>
        <p:spPr>
          <a:xfrm>
            <a:off x="33256728" y="4956047"/>
            <a:ext cx="9262872" cy="16765523"/>
          </a:xfrm>
          <a:prstGeom prst="rect">
            <a:avLst/>
          </a:prstGeom>
          <a:solidFill>
            <a:srgbClr val="FFFFFF">
              <a:alpha val="0"/>
            </a:srgbClr>
          </a:solidFill>
          <a:ln w="60960">
            <a:solidFill>
              <a:srgbClr val="3F7FB7"/>
            </a:solidFill>
            <a:prstDash val="solid"/>
          </a:ln>
        </p:spPr>
        <p:txBody>
          <a:bodyPr/>
          <a:lstStyle/>
          <a:p>
            <a:endParaRPr/>
          </a:p>
        </p:txBody>
      </p:sp>
      <p:sp>
        <p:nvSpPr>
          <p:cNvPr id="14" name="Shape 12"/>
          <p:cNvSpPr/>
          <p:nvPr/>
        </p:nvSpPr>
        <p:spPr>
          <a:xfrm>
            <a:off x="33256728" y="22741127"/>
            <a:ext cx="9262872" cy="6025896"/>
          </a:xfrm>
          <a:prstGeom prst="rect">
            <a:avLst/>
          </a:prstGeom>
          <a:solidFill>
            <a:srgbClr val="FFFFFF">
              <a:alpha val="0"/>
            </a:srgbClr>
          </a:solidFill>
          <a:ln w="60960">
            <a:solidFill>
              <a:srgbClr val="3F7FB7"/>
            </a:solidFill>
            <a:prstDash val="solid"/>
          </a:ln>
        </p:spPr>
        <p:txBody>
          <a:bodyPr/>
          <a:lstStyle/>
          <a:p>
            <a:endParaRPr/>
          </a:p>
        </p:txBody>
      </p:sp>
      <p:sp>
        <p:nvSpPr>
          <p:cNvPr id="15" name="Text 13"/>
          <p:cNvSpPr/>
          <p:nvPr/>
        </p:nvSpPr>
        <p:spPr>
          <a:xfrm>
            <a:off x="1810512" y="4562856"/>
            <a:ext cx="4023360" cy="713232"/>
          </a:xfrm>
          <a:prstGeom prst="rect">
            <a:avLst/>
          </a:prstGeom>
          <a:solidFill>
            <a:srgbClr val="FFFFFF"/>
          </a:solidFill>
          <a:ln/>
        </p:spPr>
        <p:txBody>
          <a:bodyPr wrap="square" lIns="0" tIns="0" rIns="0" bIns="0" rtlCol="0" anchor="ctr">
            <a:normAutofit/>
          </a:bodyPr>
          <a:lstStyle/>
          <a:p>
            <a:pPr marL="0" indent="0">
              <a:buNone/>
            </a:pPr>
            <a:r>
              <a:rPr lang="en-US" sz="4000" b="1" dirty="0">
                <a:solidFill>
                  <a:srgbClr val="3F7FB7"/>
                </a:solidFill>
                <a:latin typeface="Arial" pitchFamily="34" charset="0"/>
                <a:ea typeface="Arial" pitchFamily="34" charset="-122"/>
                <a:cs typeface="Arial" pitchFamily="34" charset="-120"/>
              </a:rPr>
              <a:t>INTRODUCTION</a:t>
            </a:r>
            <a:endParaRPr lang="en-US" sz="4000" dirty="0"/>
          </a:p>
        </p:txBody>
      </p:sp>
      <p:sp>
        <p:nvSpPr>
          <p:cNvPr id="16" name="Text 14"/>
          <p:cNvSpPr/>
          <p:nvPr/>
        </p:nvSpPr>
        <p:spPr>
          <a:xfrm>
            <a:off x="1810512" y="14868144"/>
            <a:ext cx="2781077" cy="713232"/>
          </a:xfrm>
          <a:prstGeom prst="rect">
            <a:avLst/>
          </a:prstGeom>
          <a:solidFill>
            <a:srgbClr val="FFFFFF"/>
          </a:solidFill>
          <a:ln/>
        </p:spPr>
        <p:txBody>
          <a:bodyPr wrap="square" lIns="0" tIns="0" rIns="0" bIns="0" rtlCol="0" anchor="ctr">
            <a:normAutofit/>
          </a:bodyPr>
          <a:lstStyle/>
          <a:p>
            <a:pPr marL="0" indent="0">
              <a:buNone/>
            </a:pPr>
            <a:r>
              <a:rPr lang="en-US" sz="4000" b="1" dirty="0">
                <a:solidFill>
                  <a:srgbClr val="3F7FB7"/>
                </a:solidFill>
                <a:latin typeface="Arial" pitchFamily="34" charset="0"/>
                <a:ea typeface="Arial" pitchFamily="34" charset="-122"/>
                <a:cs typeface="Arial" pitchFamily="34" charset="-120"/>
              </a:rPr>
              <a:t>METHODS</a:t>
            </a:r>
            <a:endParaRPr lang="en-US" sz="4000" dirty="0"/>
          </a:p>
        </p:txBody>
      </p:sp>
      <p:sp>
        <p:nvSpPr>
          <p:cNvPr id="17" name="Text 15"/>
          <p:cNvSpPr/>
          <p:nvPr/>
        </p:nvSpPr>
        <p:spPr>
          <a:xfrm>
            <a:off x="12161520" y="4590288"/>
            <a:ext cx="3315789" cy="713232"/>
          </a:xfrm>
          <a:prstGeom prst="rect">
            <a:avLst/>
          </a:prstGeom>
          <a:solidFill>
            <a:srgbClr val="FFFFFF"/>
          </a:solidFill>
          <a:ln/>
        </p:spPr>
        <p:txBody>
          <a:bodyPr wrap="square" lIns="0" tIns="0" rIns="0" bIns="0" rtlCol="0" anchor="ctr">
            <a:normAutofit/>
          </a:bodyPr>
          <a:lstStyle/>
          <a:p>
            <a:pPr marL="0" indent="0">
              <a:buNone/>
            </a:pPr>
            <a:r>
              <a:rPr lang="en-US" sz="4000" b="1" dirty="0">
                <a:solidFill>
                  <a:srgbClr val="68A84E"/>
                </a:solidFill>
                <a:latin typeface="Arial" pitchFamily="34" charset="0"/>
                <a:ea typeface="Arial" pitchFamily="34" charset="-122"/>
                <a:cs typeface="Arial" pitchFamily="34" charset="-120"/>
              </a:rPr>
              <a:t>TAKEAWAYS</a:t>
            </a:r>
            <a:endParaRPr lang="en-US" sz="4000" dirty="0"/>
          </a:p>
        </p:txBody>
      </p:sp>
      <p:sp>
        <p:nvSpPr>
          <p:cNvPr id="18" name="Text 16"/>
          <p:cNvSpPr/>
          <p:nvPr/>
        </p:nvSpPr>
        <p:spPr>
          <a:xfrm>
            <a:off x="12161520" y="9820656"/>
            <a:ext cx="2540391" cy="713232"/>
          </a:xfrm>
          <a:prstGeom prst="rect">
            <a:avLst/>
          </a:prstGeom>
          <a:solidFill>
            <a:srgbClr val="FFFFFF"/>
          </a:solidFill>
          <a:ln/>
        </p:spPr>
        <p:txBody>
          <a:bodyPr wrap="square" lIns="0" tIns="0" rIns="0" bIns="0" rtlCol="0" anchor="ctr">
            <a:normAutofit/>
          </a:bodyPr>
          <a:lstStyle/>
          <a:p>
            <a:pPr marL="0" indent="0">
              <a:buNone/>
            </a:pPr>
            <a:r>
              <a:rPr lang="en-US" sz="4000" b="1" dirty="0">
                <a:solidFill>
                  <a:srgbClr val="3F7FB7"/>
                </a:solidFill>
                <a:latin typeface="Arial" pitchFamily="34" charset="0"/>
                <a:ea typeface="Arial" pitchFamily="34" charset="-122"/>
                <a:cs typeface="Arial" pitchFamily="34" charset="-120"/>
              </a:rPr>
              <a:t>RESULTS</a:t>
            </a:r>
            <a:endParaRPr lang="en-US" sz="4000" dirty="0"/>
          </a:p>
        </p:txBody>
      </p:sp>
      <p:sp>
        <p:nvSpPr>
          <p:cNvPr id="19" name="Text 17"/>
          <p:cNvSpPr/>
          <p:nvPr/>
        </p:nvSpPr>
        <p:spPr>
          <a:xfrm>
            <a:off x="33759648" y="4562856"/>
            <a:ext cx="4023360" cy="713232"/>
          </a:xfrm>
          <a:prstGeom prst="rect">
            <a:avLst/>
          </a:prstGeom>
          <a:solidFill>
            <a:srgbClr val="FFFFFF"/>
          </a:solidFill>
          <a:ln/>
        </p:spPr>
        <p:txBody>
          <a:bodyPr wrap="square" lIns="0" tIns="0" rIns="0" bIns="0" rtlCol="0" anchor="ctr">
            <a:normAutofit/>
          </a:bodyPr>
          <a:lstStyle/>
          <a:p>
            <a:pPr marL="0" indent="0">
              <a:buNone/>
            </a:pPr>
            <a:r>
              <a:rPr lang="en-US" sz="4000" b="1" dirty="0">
                <a:solidFill>
                  <a:srgbClr val="3F7FB7"/>
                </a:solidFill>
                <a:latin typeface="Arial" pitchFamily="34" charset="0"/>
                <a:ea typeface="Arial" pitchFamily="34" charset="-122"/>
                <a:cs typeface="Arial" pitchFamily="34" charset="-120"/>
              </a:rPr>
              <a:t>CONCLUSIONS</a:t>
            </a:r>
            <a:endParaRPr lang="en-US" sz="4000" dirty="0"/>
          </a:p>
        </p:txBody>
      </p:sp>
      <p:sp>
        <p:nvSpPr>
          <p:cNvPr id="20" name="Text 18"/>
          <p:cNvSpPr/>
          <p:nvPr/>
        </p:nvSpPr>
        <p:spPr>
          <a:xfrm>
            <a:off x="33759648" y="22347935"/>
            <a:ext cx="3778817" cy="713232"/>
          </a:xfrm>
          <a:prstGeom prst="rect">
            <a:avLst/>
          </a:prstGeom>
          <a:solidFill>
            <a:srgbClr val="FFFFFF"/>
          </a:solidFill>
          <a:ln/>
        </p:spPr>
        <p:txBody>
          <a:bodyPr wrap="square" lIns="0" tIns="0" rIns="0" bIns="0" rtlCol="0" anchor="ctr">
            <a:normAutofit/>
          </a:bodyPr>
          <a:lstStyle/>
          <a:p>
            <a:pPr marL="0" indent="0">
              <a:buNone/>
            </a:pPr>
            <a:r>
              <a:rPr lang="en-US" sz="4000" b="1" dirty="0">
                <a:solidFill>
                  <a:srgbClr val="3F7FB7"/>
                </a:solidFill>
                <a:latin typeface="Arial" pitchFamily="34" charset="0"/>
                <a:ea typeface="Arial" pitchFamily="34" charset="-122"/>
                <a:cs typeface="Arial" pitchFamily="34" charset="-120"/>
              </a:rPr>
              <a:t>REFERENCES</a:t>
            </a:r>
            <a:endParaRPr lang="en-US" sz="4000" dirty="0"/>
          </a:p>
        </p:txBody>
      </p:sp>
      <p:pic>
        <p:nvPicPr>
          <p:cNvPr id="21" name="Image 0" descr="/mnt/data/logo_block.png"/>
          <p:cNvPicPr>
            <a:picLocks noChangeAspect="1"/>
          </p:cNvPicPr>
          <p:nvPr/>
        </p:nvPicPr>
        <p:blipFill>
          <a:blip r:embed="rId3"/>
          <a:stretch>
            <a:fillRect/>
          </a:stretch>
        </p:blipFill>
        <p:spPr>
          <a:xfrm>
            <a:off x="33311592" y="29013910"/>
            <a:ext cx="8823960" cy="2816352"/>
          </a:xfrm>
          <a:prstGeom prst="rect">
            <a:avLst/>
          </a:prstGeom>
        </p:spPr>
      </p:pic>
      <p:sp>
        <p:nvSpPr>
          <p:cNvPr id="22" name="TextBox 21"/>
          <p:cNvSpPr txBox="1"/>
          <p:nvPr/>
        </p:nvSpPr>
        <p:spPr>
          <a:xfrm>
            <a:off x="33467040" y="23280623"/>
            <a:ext cx="8641080" cy="5074920"/>
          </a:xfrm>
          <a:prstGeom prst="rect">
            <a:avLst/>
          </a:prstGeom>
          <a:noFill/>
        </p:spPr>
        <p:txBody>
          <a:bodyPr wrap="square" lIns="45720" tIns="18288" rIns="45720" bIns="18288" anchor="t">
            <a:spAutoFit/>
          </a:bodyPr>
          <a:lstStyle/>
          <a:p>
            <a:pPr algn="l">
              <a:lnSpc>
                <a:spcPct val="90000"/>
              </a:lnSpc>
              <a:spcAft>
                <a:spcPts val="600"/>
              </a:spcAft>
            </a:pPr>
            <a:r>
              <a:rPr sz="1150">
                <a:solidFill>
                  <a:srgbClr val="505050"/>
                </a:solidFill>
                <a:latin typeface="Arial"/>
              </a:rPr>
              <a:t>1. Wang X. (2023). Single-neuron projectome of mouse prefrontal cortex (with dendrite). Brain Science Data Center, Chinese Academy of Sciences. CSTR: 33145.11.BSDC.1689837400.1681922768243666945. DOI: 10.12412/BSDC.1690164952.20001.</a:t>
            </a:r>
          </a:p>
          <a:p>
            <a:pPr algn="l">
              <a:lnSpc>
                <a:spcPct val="90000"/>
              </a:lnSpc>
              <a:spcAft>
                <a:spcPts val="600"/>
              </a:spcAft>
            </a:pPr>
            <a:r>
              <a:rPr sz="1150">
                <a:solidFill>
                  <a:srgbClr val="505050"/>
                </a:solidFill>
                <a:latin typeface="Arial"/>
              </a:rPr>
              <a:t>2. Gao L. (2025). Single-neuron projectome of mouse whole cortex. Brain Science Data Center, Chinese Academy of Sciences. CSTR: 33145.11.BSDC.1747278088.1922847323835588609. DOI: 10.12412/BSDC.1747279998.20001.</a:t>
            </a:r>
          </a:p>
          <a:p>
            <a:pPr algn="l">
              <a:lnSpc>
                <a:spcPct val="90000"/>
              </a:lnSpc>
              <a:spcAft>
                <a:spcPts val="600"/>
              </a:spcAft>
            </a:pPr>
            <a:r>
              <a:rPr sz="1150" i="0">
                <a:solidFill>
                  <a:srgbClr val="505050"/>
                </a:solidFill>
                <a:latin typeface="Arial"/>
              </a:rPr>
              <a:t>3. Bolaños-Puchet S., Teska A., Hernando J.B., Lu H., Romani A., Schürmann F., Reimann M.W. (2024). Enhancement of brain atlases with laminar coordinate systems: Flatmaps and barrel column annotations. </a:t>
            </a:r>
            <a:r>
              <a:rPr sz="1150" i="1">
                <a:solidFill>
                  <a:srgbClr val="505050"/>
                </a:solidFill>
                <a:latin typeface="Arial"/>
              </a:rPr>
              <a:t>Imaging Neuroscience</a:t>
            </a:r>
            <a:r>
              <a:rPr sz="1150" i="0">
                <a:solidFill>
                  <a:srgbClr val="505050"/>
                </a:solidFill>
                <a:latin typeface="Arial"/>
              </a:rPr>
              <a:t> 2, imag–2–00209. DOI: 10.1162/imag_a_00209.</a:t>
            </a:r>
          </a:p>
          <a:p>
            <a:pPr algn="l">
              <a:lnSpc>
                <a:spcPct val="90000"/>
              </a:lnSpc>
              <a:spcAft>
                <a:spcPts val="600"/>
              </a:spcAft>
            </a:pPr>
            <a:r>
              <a:rPr sz="1150" i="0">
                <a:solidFill>
                  <a:srgbClr val="505050"/>
                </a:solidFill>
                <a:latin typeface="Arial"/>
              </a:rPr>
              <a:t>4. Bolaños-Puchet S., Teska A., Reimann M.W. (2024). Enhanced atlases and flatmaps of rodent neocortex (v4.1) [Data set]. Zenodo. DOI: 10.5281/zenodo.11218079.</a:t>
            </a:r>
          </a:p>
          <a:p>
            <a:pPr algn="l">
              <a:lnSpc>
                <a:spcPct val="90000"/>
              </a:lnSpc>
              <a:spcAft>
                <a:spcPts val="600"/>
              </a:spcAft>
            </a:pPr>
            <a:r>
              <a:rPr sz="1150" i="0">
                <a:solidFill>
                  <a:srgbClr val="505050"/>
                </a:solidFill>
                <a:latin typeface="Arial"/>
              </a:rPr>
              <a:t>5. Lawrimore J. (2026). CCF coordinate-field resampling utility. atlas-enhancement, commit ea735eacdfe8. https://github.com/joshlawrimore/atlas-enhancement/commit/ea735eacdfe8afc40d006d80caefd54d6b30fdd3</a:t>
            </a:r>
          </a:p>
          <a:p>
            <a:pPr algn="l">
              <a:lnSpc>
                <a:spcPct val="90000"/>
              </a:lnSpc>
              <a:spcAft>
                <a:spcPts val="600"/>
              </a:spcAft>
            </a:pPr>
            <a:r>
              <a:rPr sz="1150" i="0">
                <a:solidFill>
                  <a:srgbClr val="505050"/>
                </a:solidFill>
                <a:latin typeface="Arial"/>
              </a:rPr>
              <a:t>6. Neuron Navigator. Plugin source code. https://github.com/nimh-dsst/napari-neuron-navigator.</a:t>
            </a:r>
          </a:p>
          <a:p>
            <a:pPr algn="l">
              <a:lnSpc>
                <a:spcPct val="90000"/>
              </a:lnSpc>
              <a:spcAft>
                <a:spcPts val="600"/>
              </a:spcAft>
            </a:pPr>
            <a:r>
              <a:rPr sz="1150" i="0">
                <a:solidFill>
                  <a:srgbClr val="505050"/>
                </a:solidFill>
                <a:latin typeface="Arial"/>
              </a:rPr>
              <a:t>7. Pixi. Package and environment management. https://pixi.sh/.</a:t>
            </a:r>
          </a:p>
          <a:p>
            <a:pPr algn="l">
              <a:lnSpc>
                <a:spcPct val="90000"/>
              </a:lnSpc>
              <a:spcAft>
                <a:spcPts val="600"/>
              </a:spcAft>
            </a:pPr>
            <a:r>
              <a:rPr sz="1150" i="0">
                <a:solidFill>
                  <a:srgbClr val="505050"/>
                </a:solidFill>
                <a:latin typeface="Arial"/>
              </a:rPr>
              <a:t>8. Wang Q. et al. (2020). The Allen Mouse Brain Common Coordinate Framework: A 3D Reference Atlas. Cell 181(4), 936–953.e20. DOI: 10.1016/j.cell.2020.04.007.</a:t>
            </a:r>
          </a:p>
          <a:p>
            <a:pPr algn="l">
              <a:lnSpc>
                <a:spcPct val="90000"/>
              </a:lnSpc>
              <a:spcAft>
                <a:spcPts val="0"/>
              </a:spcAft>
            </a:pPr>
            <a:r>
              <a:rPr sz="1150" i="0">
                <a:solidFill>
                  <a:srgbClr val="505050"/>
                </a:solidFill>
                <a:latin typeface="Arial"/>
              </a:rPr>
              <a:t>9. Hooks B.M. et al. (2018). Topographic precision in sensory and motor corticostriatal projections varies across cell type and cortical area. Nature Communications 9, 3549. DOI: 10.1038/s41467-018-05780-7.</a:t>
            </a:r>
          </a:p>
        </p:txBody>
      </p:sp>
      <p:grpSp>
        <p:nvGrpSpPr>
          <p:cNvPr id="23" name="Provenance flowchart" descr="Step 0A–0H source and preparation dependencies; a provenance schematic, not an analysis result."/>
          <p:cNvGrpSpPr/>
          <p:nvPr/>
        </p:nvGrpSpPr>
        <p:grpSpPr>
          <a:xfrm>
            <a:off x="1719072" y="16038576"/>
            <a:ext cx="8458200" cy="12252960"/>
            <a:chOff x="0" y="0"/>
            <a:chExt cx="8458200" cy="12252960"/>
          </a:xfrm>
        </p:grpSpPr>
        <p:cxnSp>
          <p:nvCxnSpPr>
            <p:cNvPr id="24" name="Provenance arrow 24"/>
            <p:cNvCxnSpPr/>
            <p:nvPr/>
          </p:nvCxnSpPr>
          <p:spPr>
            <a:xfrm flipH="1">
              <a:off x="137160" y="1097280"/>
              <a:ext cx="365760" cy="0"/>
            </a:xfrm>
            <a:prstGeom prst="line">
              <a:avLst/>
            </a:prstGeom>
            <a:ln w="19050">
              <a:solidFill>
                <a:srgbClr val="728392"/>
              </a:solidFill>
              <a:round/>
            </a:ln>
          </p:spPr>
        </p:cxnSp>
        <p:cxnSp>
          <p:nvCxnSpPr>
            <p:cNvPr id="25" name="Provenance arrow 25"/>
            <p:cNvCxnSpPr/>
            <p:nvPr/>
          </p:nvCxnSpPr>
          <p:spPr>
            <a:xfrm>
              <a:off x="137160" y="1097280"/>
              <a:ext cx="0" cy="3520440"/>
            </a:xfrm>
            <a:prstGeom prst="line">
              <a:avLst/>
            </a:prstGeom>
            <a:ln w="19050">
              <a:solidFill>
                <a:srgbClr val="728392"/>
              </a:solidFill>
              <a:round/>
            </a:ln>
          </p:spPr>
        </p:cxnSp>
        <p:cxnSp>
          <p:nvCxnSpPr>
            <p:cNvPr id="26" name="Provenance arrow 26"/>
            <p:cNvCxnSpPr/>
            <p:nvPr/>
          </p:nvCxnSpPr>
          <p:spPr>
            <a:xfrm>
              <a:off x="137160" y="4617720"/>
              <a:ext cx="502920" cy="0"/>
            </a:xfrm>
            <a:prstGeom prst="line">
              <a:avLst/>
            </a:prstGeom>
            <a:ln w="19050">
              <a:solidFill>
                <a:srgbClr val="728392"/>
              </a:solidFill>
              <a:round/>
              <a:tailEnd type="triangle" w="med" len="med"/>
            </a:ln>
          </p:spPr>
        </p:cxnSp>
        <p:cxnSp>
          <p:nvCxnSpPr>
            <p:cNvPr id="27" name="Provenance arrow 27"/>
            <p:cNvCxnSpPr/>
            <p:nvPr/>
          </p:nvCxnSpPr>
          <p:spPr>
            <a:xfrm>
              <a:off x="1234440" y="3246120"/>
              <a:ext cx="0" cy="429768"/>
            </a:xfrm>
            <a:prstGeom prst="line">
              <a:avLst/>
            </a:prstGeom>
            <a:ln w="19050">
              <a:solidFill>
                <a:srgbClr val="728392"/>
              </a:solidFill>
              <a:round/>
            </a:ln>
          </p:spPr>
        </p:cxnSp>
        <p:cxnSp>
          <p:nvCxnSpPr>
            <p:cNvPr id="28" name="Provenance arrow 28"/>
            <p:cNvCxnSpPr/>
            <p:nvPr/>
          </p:nvCxnSpPr>
          <p:spPr>
            <a:xfrm>
              <a:off x="1234440" y="3675888"/>
              <a:ext cx="1005840" cy="0"/>
            </a:xfrm>
            <a:prstGeom prst="line">
              <a:avLst/>
            </a:prstGeom>
            <a:ln w="19050">
              <a:solidFill>
                <a:srgbClr val="728392"/>
              </a:solidFill>
              <a:round/>
            </a:ln>
          </p:spPr>
        </p:cxnSp>
        <p:cxnSp>
          <p:nvCxnSpPr>
            <p:cNvPr id="29" name="Provenance arrow 29"/>
            <p:cNvCxnSpPr/>
            <p:nvPr/>
          </p:nvCxnSpPr>
          <p:spPr>
            <a:xfrm>
              <a:off x="3246120" y="3246120"/>
              <a:ext cx="0" cy="429768"/>
            </a:xfrm>
            <a:prstGeom prst="line">
              <a:avLst/>
            </a:prstGeom>
            <a:ln w="19050">
              <a:solidFill>
                <a:srgbClr val="728392"/>
              </a:solidFill>
              <a:round/>
            </a:ln>
          </p:spPr>
        </p:cxnSp>
        <p:cxnSp>
          <p:nvCxnSpPr>
            <p:cNvPr id="30" name="Provenance arrow 30"/>
            <p:cNvCxnSpPr/>
            <p:nvPr/>
          </p:nvCxnSpPr>
          <p:spPr>
            <a:xfrm flipH="1">
              <a:off x="2240280" y="3675888"/>
              <a:ext cx="1005840" cy="0"/>
            </a:xfrm>
            <a:prstGeom prst="line">
              <a:avLst/>
            </a:prstGeom>
            <a:ln w="19050">
              <a:solidFill>
                <a:srgbClr val="728392"/>
              </a:solidFill>
              <a:round/>
            </a:ln>
          </p:spPr>
        </p:cxnSp>
        <p:cxnSp>
          <p:nvCxnSpPr>
            <p:cNvPr id="31" name="Provenance arrow 31"/>
            <p:cNvCxnSpPr/>
            <p:nvPr/>
          </p:nvCxnSpPr>
          <p:spPr>
            <a:xfrm>
              <a:off x="2240280" y="3675888"/>
              <a:ext cx="0" cy="530352"/>
            </a:xfrm>
            <a:prstGeom prst="line">
              <a:avLst/>
            </a:prstGeom>
            <a:ln w="19050">
              <a:solidFill>
                <a:srgbClr val="728392"/>
              </a:solidFill>
              <a:round/>
              <a:tailEnd type="triangle" w="med" len="med"/>
            </a:ln>
          </p:spPr>
        </p:cxnSp>
        <p:cxnSp>
          <p:nvCxnSpPr>
            <p:cNvPr id="32" name="Provenance arrow 32"/>
            <p:cNvCxnSpPr/>
            <p:nvPr/>
          </p:nvCxnSpPr>
          <p:spPr>
            <a:xfrm>
              <a:off x="5257800" y="3246120"/>
              <a:ext cx="0" cy="429768"/>
            </a:xfrm>
            <a:prstGeom prst="line">
              <a:avLst/>
            </a:prstGeom>
            <a:ln w="19050">
              <a:solidFill>
                <a:srgbClr val="728392"/>
              </a:solidFill>
              <a:round/>
            </a:ln>
          </p:spPr>
        </p:cxnSp>
        <p:cxnSp>
          <p:nvCxnSpPr>
            <p:cNvPr id="33" name="Provenance arrow 33"/>
            <p:cNvCxnSpPr/>
            <p:nvPr/>
          </p:nvCxnSpPr>
          <p:spPr>
            <a:xfrm>
              <a:off x="5257800" y="3675888"/>
              <a:ext cx="914400" cy="0"/>
            </a:xfrm>
            <a:prstGeom prst="line">
              <a:avLst/>
            </a:prstGeom>
            <a:ln w="19050">
              <a:solidFill>
                <a:srgbClr val="728392"/>
              </a:solidFill>
              <a:round/>
            </a:ln>
          </p:spPr>
        </p:cxnSp>
        <p:cxnSp>
          <p:nvCxnSpPr>
            <p:cNvPr id="34" name="Provenance arrow 34"/>
            <p:cNvCxnSpPr/>
            <p:nvPr/>
          </p:nvCxnSpPr>
          <p:spPr>
            <a:xfrm>
              <a:off x="7269480" y="3246120"/>
              <a:ext cx="0" cy="429768"/>
            </a:xfrm>
            <a:prstGeom prst="line">
              <a:avLst/>
            </a:prstGeom>
            <a:ln w="19050">
              <a:solidFill>
                <a:srgbClr val="728392"/>
              </a:solidFill>
              <a:round/>
            </a:ln>
          </p:spPr>
        </p:cxnSp>
        <p:cxnSp>
          <p:nvCxnSpPr>
            <p:cNvPr id="35" name="Provenance arrow 35"/>
            <p:cNvCxnSpPr/>
            <p:nvPr/>
          </p:nvCxnSpPr>
          <p:spPr>
            <a:xfrm flipH="1">
              <a:off x="6172200" y="3675888"/>
              <a:ext cx="1097280" cy="0"/>
            </a:xfrm>
            <a:prstGeom prst="line">
              <a:avLst/>
            </a:prstGeom>
            <a:ln w="19050">
              <a:solidFill>
                <a:srgbClr val="728392"/>
              </a:solidFill>
              <a:round/>
            </a:ln>
          </p:spPr>
        </p:cxnSp>
        <p:cxnSp>
          <p:nvCxnSpPr>
            <p:cNvPr id="36" name="Provenance arrow 36"/>
            <p:cNvCxnSpPr/>
            <p:nvPr/>
          </p:nvCxnSpPr>
          <p:spPr>
            <a:xfrm>
              <a:off x="6172200" y="3675888"/>
              <a:ext cx="0" cy="530352"/>
            </a:xfrm>
            <a:prstGeom prst="line">
              <a:avLst/>
            </a:prstGeom>
            <a:ln w="19050">
              <a:solidFill>
                <a:srgbClr val="728392"/>
              </a:solidFill>
              <a:round/>
              <a:tailEnd type="triangle" w="med" len="med"/>
            </a:ln>
          </p:spPr>
        </p:cxnSp>
        <p:cxnSp>
          <p:nvCxnSpPr>
            <p:cNvPr id="37" name="Provenance arrow 37"/>
            <p:cNvCxnSpPr/>
            <p:nvPr/>
          </p:nvCxnSpPr>
          <p:spPr>
            <a:xfrm>
              <a:off x="2240280" y="5029200"/>
              <a:ext cx="0" cy="530352"/>
            </a:xfrm>
            <a:prstGeom prst="line">
              <a:avLst/>
            </a:prstGeom>
            <a:ln w="19050">
              <a:solidFill>
                <a:srgbClr val="728392"/>
              </a:solidFill>
              <a:round/>
            </a:ln>
          </p:spPr>
        </p:cxnSp>
        <p:cxnSp>
          <p:nvCxnSpPr>
            <p:cNvPr id="38" name="Provenance arrow 38"/>
            <p:cNvCxnSpPr/>
            <p:nvPr/>
          </p:nvCxnSpPr>
          <p:spPr>
            <a:xfrm>
              <a:off x="2240280" y="5559552"/>
              <a:ext cx="1965960" cy="0"/>
            </a:xfrm>
            <a:prstGeom prst="line">
              <a:avLst/>
            </a:prstGeom>
            <a:ln w="19050">
              <a:solidFill>
                <a:srgbClr val="728392"/>
              </a:solidFill>
              <a:round/>
            </a:ln>
          </p:spPr>
        </p:cxnSp>
        <p:cxnSp>
          <p:nvCxnSpPr>
            <p:cNvPr id="39" name="Provenance arrow 39"/>
            <p:cNvCxnSpPr/>
            <p:nvPr/>
          </p:nvCxnSpPr>
          <p:spPr>
            <a:xfrm>
              <a:off x="6172200" y="5029200"/>
              <a:ext cx="0" cy="530352"/>
            </a:xfrm>
            <a:prstGeom prst="line">
              <a:avLst/>
            </a:prstGeom>
            <a:ln w="19050">
              <a:solidFill>
                <a:srgbClr val="728392"/>
              </a:solidFill>
              <a:round/>
            </a:ln>
          </p:spPr>
        </p:cxnSp>
        <p:cxnSp>
          <p:nvCxnSpPr>
            <p:cNvPr id="40" name="Provenance arrow 40"/>
            <p:cNvCxnSpPr/>
            <p:nvPr/>
          </p:nvCxnSpPr>
          <p:spPr>
            <a:xfrm flipH="1">
              <a:off x="4206240" y="5559552"/>
              <a:ext cx="1965960" cy="0"/>
            </a:xfrm>
            <a:prstGeom prst="line">
              <a:avLst/>
            </a:prstGeom>
            <a:ln w="19050">
              <a:solidFill>
                <a:srgbClr val="728392"/>
              </a:solidFill>
              <a:round/>
            </a:ln>
          </p:spPr>
        </p:cxnSp>
        <p:cxnSp>
          <p:nvCxnSpPr>
            <p:cNvPr id="41" name="Provenance arrow 41"/>
            <p:cNvCxnSpPr/>
            <p:nvPr/>
          </p:nvCxnSpPr>
          <p:spPr>
            <a:xfrm>
              <a:off x="4206240" y="5559552"/>
              <a:ext cx="0" cy="612648"/>
            </a:xfrm>
            <a:prstGeom prst="line">
              <a:avLst/>
            </a:prstGeom>
            <a:ln w="19050">
              <a:solidFill>
                <a:srgbClr val="728392"/>
              </a:solidFill>
              <a:round/>
              <a:tailEnd type="triangle" w="med" len="med"/>
            </a:ln>
          </p:spPr>
        </p:cxnSp>
        <p:cxnSp>
          <p:nvCxnSpPr>
            <p:cNvPr id="42" name="Provenance arrow 42"/>
            <p:cNvCxnSpPr/>
            <p:nvPr/>
          </p:nvCxnSpPr>
          <p:spPr>
            <a:xfrm>
              <a:off x="4206240" y="7040880"/>
              <a:ext cx="0" cy="754380"/>
            </a:xfrm>
            <a:prstGeom prst="line">
              <a:avLst/>
            </a:prstGeom>
            <a:ln w="19050">
              <a:solidFill>
                <a:srgbClr val="728392"/>
              </a:solidFill>
              <a:round/>
            </a:ln>
          </p:spPr>
        </p:cxnSp>
        <p:cxnSp>
          <p:nvCxnSpPr>
            <p:cNvPr id="43" name="Provenance arrow 43"/>
            <p:cNvCxnSpPr/>
            <p:nvPr/>
          </p:nvCxnSpPr>
          <p:spPr>
            <a:xfrm flipH="1">
              <a:off x="4206240" y="7795260"/>
              <a:ext cx="2057400" cy="0"/>
            </a:xfrm>
            <a:prstGeom prst="line">
              <a:avLst/>
            </a:prstGeom>
            <a:ln w="19050">
              <a:solidFill>
                <a:srgbClr val="728392"/>
              </a:solidFill>
              <a:round/>
            </a:ln>
          </p:spPr>
        </p:cxnSp>
        <p:cxnSp>
          <p:nvCxnSpPr>
            <p:cNvPr id="44" name="Provenance arrow 44"/>
            <p:cNvCxnSpPr/>
            <p:nvPr/>
          </p:nvCxnSpPr>
          <p:spPr>
            <a:xfrm>
              <a:off x="4206240" y="7795260"/>
              <a:ext cx="0" cy="571500"/>
            </a:xfrm>
            <a:prstGeom prst="line">
              <a:avLst/>
            </a:prstGeom>
            <a:ln w="19050">
              <a:solidFill>
                <a:srgbClr val="728392"/>
              </a:solidFill>
              <a:round/>
              <a:tailEnd type="triangle" w="med" len="med"/>
            </a:ln>
          </p:spPr>
        </p:cxnSp>
        <p:sp>
          <p:nvSpPr>
            <p:cNvPr id="45" name="software"/>
            <p:cNvSpPr/>
            <p:nvPr/>
          </p:nvSpPr>
          <p:spPr>
            <a:xfrm>
              <a:off x="502920" y="685800"/>
              <a:ext cx="7406640" cy="822960"/>
            </a:xfrm>
            <a:prstGeom prst="roundRect">
              <a:avLst/>
            </a:prstGeom>
            <a:solidFill>
              <a:srgbClr val="EDF4FA"/>
            </a:solidFill>
            <a:ln w="19050">
              <a:solidFill>
                <a:srgbClr val="3F7FB7"/>
              </a:solidFill>
            </a:ln>
          </p:spPr>
          <p:txBody>
            <a:bodyPr wrap="none" lIns="64008" tIns="0" rIns="64008" bIns="0" anchor="ctr"/>
            <a:lstStyle/>
            <a:p>
              <a:pPr algn="ctr">
                <a:buNone/>
              </a:pPr>
              <a:r>
                <a:rPr lang="en-US" sz="2300" b="1" dirty="0">
                  <a:solidFill>
                    <a:srgbClr val="253B4D"/>
                  </a:solidFill>
                  <a:latin typeface="Arial"/>
                </a:rPr>
                <a:t>Neuron Navigator</a:t>
              </a:r>
              <a:r>
                <a:rPr lang="en-US" sz="1495" b="1" baseline="30000" dirty="0">
                  <a:solidFill>
                    <a:srgbClr val="253B4D"/>
                  </a:solidFill>
                  <a:latin typeface="Arial"/>
                </a:rPr>
                <a:t>6</a:t>
              </a:r>
              <a:r>
                <a:rPr lang="en-US" sz="2300" b="1" dirty="0">
                  <a:solidFill>
                    <a:srgbClr val="253B4D"/>
                  </a:solidFill>
                  <a:latin typeface="Arial"/>
                </a:rPr>
                <a:t> + Pixi</a:t>
              </a:r>
              <a:r>
                <a:rPr lang="en-US" sz="1495" b="1" baseline="30000" dirty="0">
                  <a:solidFill>
                    <a:srgbClr val="253B4D"/>
                  </a:solidFill>
                  <a:latin typeface="Arial"/>
                </a:rPr>
                <a:t>7</a:t>
              </a:r>
              <a:endParaRPr lang="en-US" sz="2300" dirty="0"/>
            </a:p>
          </p:txBody>
        </p:sp>
        <p:sp>
          <p:nvSpPr>
            <p:cNvPr id="46" name="pfc"/>
            <p:cNvSpPr/>
            <p:nvPr/>
          </p:nvSpPr>
          <p:spPr>
            <a:xfrm>
              <a:off x="365760" y="2514600"/>
              <a:ext cx="1737360" cy="731520"/>
            </a:xfrm>
            <a:prstGeom prst="roundRect">
              <a:avLst/>
            </a:prstGeom>
            <a:solidFill>
              <a:srgbClr val="EDF4FA"/>
            </a:solidFill>
            <a:ln w="19050">
              <a:solidFill>
                <a:srgbClr val="3F7FB7"/>
              </a:solidFill>
            </a:ln>
          </p:spPr>
          <p:txBody>
            <a:bodyPr wrap="none" lIns="64008" tIns="0" rIns="64008" bIns="0" anchor="ctr"/>
            <a:lstStyle/>
            <a:p>
              <a:pPr algn="ctr">
                <a:buNone/>
              </a:pPr>
              <a:r>
                <a:rPr lang="en-US" sz="1850" b="1">
                  <a:solidFill>
                    <a:srgbClr val="253B4D"/>
                  </a:solidFill>
                  <a:latin typeface="Arial"/>
                </a:rPr>
                <a:t>PFC SWCs</a:t>
              </a:r>
              <a:r>
                <a:rPr lang="en-US" sz="1202" b="1" baseline="30000">
                  <a:solidFill>
                    <a:srgbClr val="253B4D"/>
                  </a:solidFill>
                  <a:latin typeface="Arial"/>
                </a:rPr>
                <a:t>1</a:t>
              </a:r>
              <a:endParaRPr lang="en-US" sz="1850"/>
            </a:p>
          </p:txBody>
        </p:sp>
        <p:sp>
          <p:nvSpPr>
            <p:cNvPr id="47" name="cortex"/>
            <p:cNvSpPr/>
            <p:nvPr/>
          </p:nvSpPr>
          <p:spPr>
            <a:xfrm>
              <a:off x="2377440" y="2514600"/>
              <a:ext cx="1737360" cy="731520"/>
            </a:xfrm>
            <a:prstGeom prst="roundRect">
              <a:avLst/>
            </a:prstGeom>
            <a:solidFill>
              <a:srgbClr val="EDF4FA"/>
            </a:solidFill>
            <a:ln w="19050">
              <a:solidFill>
                <a:srgbClr val="3F7FB7"/>
              </a:solidFill>
            </a:ln>
          </p:spPr>
          <p:txBody>
            <a:bodyPr wrap="none" lIns="64008" tIns="0" rIns="64008" bIns="0" anchor="ctr"/>
            <a:lstStyle/>
            <a:p>
              <a:pPr algn="ctr">
                <a:buNone/>
              </a:pPr>
              <a:r>
                <a:rPr lang="en-US" sz="1850" b="1" dirty="0">
                  <a:solidFill>
                    <a:srgbClr val="253B4D"/>
                  </a:solidFill>
                  <a:latin typeface="Arial"/>
                </a:rPr>
                <a:t>Cortex SWCs</a:t>
              </a:r>
              <a:r>
                <a:rPr lang="en-US" sz="1202" b="1" baseline="30000" dirty="0">
                  <a:solidFill>
                    <a:srgbClr val="253B4D"/>
                  </a:solidFill>
                  <a:latin typeface="Arial"/>
                </a:rPr>
                <a:t>2</a:t>
              </a:r>
              <a:endParaRPr lang="en-US" sz="1850" dirty="0"/>
            </a:p>
          </p:txBody>
        </p:sp>
        <p:sp>
          <p:nvSpPr>
            <p:cNvPr id="48" name="flatmaps"/>
            <p:cNvSpPr/>
            <p:nvPr/>
          </p:nvSpPr>
          <p:spPr>
            <a:xfrm>
              <a:off x="4389120" y="2514600"/>
              <a:ext cx="1737360" cy="731520"/>
            </a:xfrm>
            <a:prstGeom prst="roundRect">
              <a:avLst/>
            </a:prstGeom>
            <a:solidFill>
              <a:srgbClr val="EDF4FA"/>
            </a:solidFill>
            <a:ln w="19050">
              <a:solidFill>
                <a:srgbClr val="3F7FB7"/>
              </a:solidFill>
            </a:ln>
          </p:spPr>
          <p:txBody>
            <a:bodyPr wrap="none" lIns="64008" tIns="0" rIns="64008" bIns="0" anchor="ctr"/>
            <a:lstStyle/>
            <a:p>
              <a:pPr algn="ctr">
                <a:buNone/>
              </a:pPr>
              <a:r>
                <a:rPr lang="en-US" sz="1850" b="1" dirty="0">
                  <a:solidFill>
                    <a:srgbClr val="253B4D"/>
                  </a:solidFill>
                  <a:latin typeface="Arial"/>
                </a:rPr>
                <a:t>Flatmaps</a:t>
              </a:r>
              <a:r>
                <a:rPr lang="en-US" sz="1202" b="1" baseline="30000" dirty="0">
                  <a:solidFill>
                    <a:srgbClr val="253B4D"/>
                  </a:solidFill>
                  <a:latin typeface="Arial"/>
                </a:rPr>
                <a:t>3,4</a:t>
              </a:r>
              <a:endParaRPr lang="en-US" sz="1850" dirty="0"/>
            </a:p>
          </p:txBody>
        </p:sp>
        <p:sp>
          <p:nvSpPr>
            <p:cNvPr id="49" name="fork"/>
            <p:cNvSpPr/>
            <p:nvPr/>
          </p:nvSpPr>
          <p:spPr>
            <a:xfrm>
              <a:off x="6400800" y="2514600"/>
              <a:ext cx="1737360" cy="731520"/>
            </a:xfrm>
            <a:prstGeom prst="roundRect">
              <a:avLst/>
            </a:prstGeom>
            <a:solidFill>
              <a:srgbClr val="F2F4F6"/>
            </a:solidFill>
            <a:ln w="19050">
              <a:solidFill>
                <a:srgbClr val="728392"/>
              </a:solidFill>
            </a:ln>
          </p:spPr>
          <p:txBody>
            <a:bodyPr wrap="none" lIns="64008" tIns="0" rIns="64008" bIns="0" anchor="ctr"/>
            <a:lstStyle/>
            <a:p>
              <a:pPr algn="ctr">
                <a:buNone/>
              </a:pPr>
              <a:r>
                <a:rPr lang="en-US" sz="1850" b="1">
                  <a:solidFill>
                    <a:srgbClr val="253B4D"/>
                  </a:solidFill>
                  <a:latin typeface="Arial"/>
                </a:rPr>
                <a:t>Atlas fork</a:t>
              </a:r>
              <a:r>
                <a:rPr lang="en-US" sz="1202" b="1" baseline="30000">
                  <a:solidFill>
                    <a:srgbClr val="253B4D"/>
                  </a:solidFill>
                  <a:latin typeface="Arial"/>
                </a:rPr>
                <a:t>5</a:t>
              </a:r>
              <a:endParaRPr lang="en-US" sz="1850"/>
            </a:p>
          </p:txBody>
        </p:sp>
        <p:sp>
          <p:nvSpPr>
            <p:cNvPr id="50" name="neurons"/>
            <p:cNvSpPr/>
            <p:nvPr/>
          </p:nvSpPr>
          <p:spPr>
            <a:xfrm>
              <a:off x="640080" y="4206240"/>
              <a:ext cx="3200400" cy="822960"/>
            </a:xfrm>
            <a:prstGeom prst="roundRect">
              <a:avLst/>
            </a:prstGeom>
            <a:solidFill>
              <a:srgbClr val="F0F6EC"/>
            </a:solidFill>
            <a:ln w="19050">
              <a:solidFill>
                <a:srgbClr val="4E843D"/>
              </a:solidFill>
            </a:ln>
          </p:spPr>
          <p:txBody>
            <a:bodyPr wrap="none" lIns="64008" tIns="0" rIns="64008" bIns="0" anchor="ctr"/>
            <a:lstStyle/>
            <a:p>
              <a:pPr algn="ctr">
                <a:buNone/>
              </a:pPr>
              <a:r>
                <a:rPr lang="en-US" sz="2200" b="1">
                  <a:solidFill>
                    <a:srgbClr val="253B4D"/>
                  </a:solidFill>
                  <a:latin typeface="Arial"/>
                </a:rPr>
                <a:t>Neuron Parquet</a:t>
              </a:r>
              <a:endParaRPr lang="en-US" sz="2200"/>
            </a:p>
          </p:txBody>
        </p:sp>
        <p:sp>
          <p:nvSpPr>
            <p:cNvPr id="51" name="nrrds"/>
            <p:cNvSpPr/>
            <p:nvPr/>
          </p:nvSpPr>
          <p:spPr>
            <a:xfrm>
              <a:off x="4572000" y="4206240"/>
              <a:ext cx="3200400" cy="822960"/>
            </a:xfrm>
            <a:prstGeom prst="roundRect">
              <a:avLst/>
            </a:prstGeom>
            <a:solidFill>
              <a:srgbClr val="F0F6EC"/>
            </a:solidFill>
            <a:ln w="19050">
              <a:solidFill>
                <a:srgbClr val="4E843D"/>
              </a:solidFill>
            </a:ln>
          </p:spPr>
          <p:txBody>
            <a:bodyPr wrap="none" lIns="64008" tIns="0" rIns="64008" bIns="0" anchor="ctr"/>
            <a:lstStyle/>
            <a:p>
              <a:pPr algn="ctr">
                <a:buNone/>
              </a:pPr>
              <a:r>
                <a:rPr lang="en-US" sz="2200" b="1">
                  <a:solidFill>
                    <a:srgbClr val="253B4D"/>
                  </a:solidFill>
                  <a:latin typeface="Arial"/>
                </a:rPr>
                <a:t>25 µm NRRDs</a:t>
              </a:r>
              <a:r>
                <a:rPr lang="en-US" sz="1430" b="1" baseline="30000">
                  <a:solidFill>
                    <a:srgbClr val="253B4D"/>
                  </a:solidFill>
                  <a:latin typeface="Arial"/>
                </a:rPr>
                <a:t>5</a:t>
              </a:r>
              <a:endParaRPr lang="en-US" sz="2200"/>
            </a:p>
          </p:txBody>
        </p:sp>
        <p:sp>
          <p:nvSpPr>
            <p:cNvPr id="52" name="enriched"/>
            <p:cNvSpPr/>
            <p:nvPr/>
          </p:nvSpPr>
          <p:spPr>
            <a:xfrm>
              <a:off x="2423160" y="6172200"/>
              <a:ext cx="3566160" cy="868680"/>
            </a:xfrm>
            <a:prstGeom prst="roundRect">
              <a:avLst/>
            </a:prstGeom>
            <a:solidFill>
              <a:srgbClr val="F0F6EC"/>
            </a:solidFill>
            <a:ln w="19050">
              <a:solidFill>
                <a:srgbClr val="4E843D"/>
              </a:solidFill>
            </a:ln>
          </p:spPr>
          <p:txBody>
            <a:bodyPr wrap="none" lIns="64008" tIns="0" rIns="64008" bIns="0" anchor="ctr"/>
            <a:lstStyle/>
            <a:p>
              <a:pPr algn="ctr">
                <a:buNone/>
              </a:pPr>
              <a:r>
                <a:rPr lang="en-US" sz="2200" b="1">
                  <a:solidFill>
                    <a:srgbClr val="253B4D"/>
                  </a:solidFill>
                  <a:latin typeface="Arial"/>
                </a:rPr>
                <a:t>Flatmap Parquet</a:t>
              </a:r>
              <a:endParaRPr lang="en-US" sz="2200"/>
            </a:p>
          </p:txBody>
        </p:sp>
        <p:sp>
          <p:nvSpPr>
            <p:cNvPr id="53" name="atlas"/>
            <p:cNvSpPr/>
            <p:nvPr/>
          </p:nvSpPr>
          <p:spPr>
            <a:xfrm>
              <a:off x="6263640" y="7406640"/>
              <a:ext cx="1920240" cy="777240"/>
            </a:xfrm>
            <a:prstGeom prst="roundRect">
              <a:avLst/>
            </a:prstGeom>
            <a:solidFill>
              <a:srgbClr val="EDF4FA"/>
            </a:solidFill>
            <a:ln w="19050">
              <a:solidFill>
                <a:srgbClr val="3F7FB7"/>
              </a:solidFill>
            </a:ln>
          </p:spPr>
          <p:txBody>
            <a:bodyPr wrap="none" lIns="64008" tIns="0" rIns="64008" bIns="0" anchor="ctr"/>
            <a:lstStyle/>
            <a:p>
              <a:pPr algn="ctr">
                <a:buNone/>
              </a:pPr>
              <a:r>
                <a:rPr lang="en-US" sz="1950" b="1">
                  <a:solidFill>
                    <a:srgbClr val="253B4D"/>
                  </a:solidFill>
                  <a:latin typeface="Arial"/>
                </a:rPr>
                <a:t>Allen atlas</a:t>
              </a:r>
              <a:r>
                <a:rPr lang="en-US" sz="1268" b="1" baseline="30000">
                  <a:solidFill>
                    <a:srgbClr val="253B4D"/>
                  </a:solidFill>
                  <a:latin typeface="Arial"/>
                </a:rPr>
                <a:t>8</a:t>
              </a:r>
              <a:endParaRPr lang="en-US" sz="1950"/>
            </a:p>
          </p:txBody>
        </p:sp>
        <p:sp>
          <p:nvSpPr>
            <p:cNvPr id="54" name="sidecar"/>
            <p:cNvSpPr/>
            <p:nvPr/>
          </p:nvSpPr>
          <p:spPr>
            <a:xfrm>
              <a:off x="2423160" y="8366760"/>
              <a:ext cx="3566160" cy="868680"/>
            </a:xfrm>
            <a:prstGeom prst="roundRect">
              <a:avLst/>
            </a:prstGeom>
            <a:solidFill>
              <a:srgbClr val="4E843D"/>
            </a:solidFill>
            <a:ln w="19050">
              <a:solidFill>
                <a:srgbClr val="4E843D"/>
              </a:solidFill>
            </a:ln>
          </p:spPr>
          <p:txBody>
            <a:bodyPr wrap="none" lIns="64008" tIns="0" rIns="64008" bIns="0" anchor="ctr"/>
            <a:lstStyle/>
            <a:p>
              <a:pPr algn="ctr">
                <a:buNone/>
              </a:pPr>
              <a:r>
                <a:rPr lang="en-US" sz="2300" b="1">
                  <a:solidFill>
                    <a:srgbClr val="FFFFFF"/>
                  </a:solidFill>
                  <a:latin typeface="Arial"/>
                </a:rPr>
                <a:t>Region sidecar</a:t>
              </a:r>
              <a:endParaRPr lang="en-US" sz="2300"/>
            </a:p>
          </p:txBody>
        </p:sp>
        <p:sp>
          <p:nvSpPr>
            <p:cNvPr id="55" name="Provenance caption Plugin setup"/>
            <p:cNvSpPr/>
            <p:nvPr/>
          </p:nvSpPr>
          <p:spPr>
            <a:xfrm>
              <a:off x="502920" y="246888"/>
              <a:ext cx="7406640" cy="320040"/>
            </a:xfrm>
            <a:prstGeom prst="rect">
              <a:avLst/>
            </a:prstGeom>
            <a:noFill/>
            <a:ln>
              <a:noFill/>
            </a:ln>
          </p:spPr>
          <p:txBody>
            <a:bodyPr wrap="none" lIns="64008" tIns="0" rIns="64008" bIns="0" anchor="ctr"/>
            <a:lstStyle/>
            <a:p>
              <a:pPr algn="ctr">
                <a:buNone/>
              </a:pPr>
              <a:r>
                <a:rPr lang="en-US" sz="1400" b="0" dirty="0">
                  <a:solidFill>
                    <a:srgbClr val="728392"/>
                  </a:solidFill>
                  <a:latin typeface="Arial"/>
                </a:rPr>
                <a:t>Plugin setup</a:t>
              </a:r>
              <a:endParaRPr lang="en-US" sz="1400" dirty="0"/>
            </a:p>
          </p:txBody>
        </p:sp>
        <p:sp>
          <p:nvSpPr>
            <p:cNvPr id="56" name="Provenance caption For region search"/>
            <p:cNvSpPr/>
            <p:nvPr/>
          </p:nvSpPr>
          <p:spPr>
            <a:xfrm>
              <a:off x="2423160" y="9372600"/>
              <a:ext cx="3566160" cy="320040"/>
            </a:xfrm>
            <a:prstGeom prst="rect">
              <a:avLst/>
            </a:prstGeom>
            <a:noFill/>
            <a:ln>
              <a:noFill/>
            </a:ln>
          </p:spPr>
          <p:txBody>
            <a:bodyPr wrap="none" lIns="64008" tIns="0" rIns="64008" bIns="0" anchor="ctr"/>
            <a:lstStyle/>
            <a:p>
              <a:pPr algn="ctr">
                <a:buNone/>
              </a:pPr>
              <a:r>
                <a:rPr lang="en-US" sz="1600" b="0">
                  <a:solidFill>
                    <a:srgbClr val="728392"/>
                  </a:solidFill>
                  <a:latin typeface="Arial"/>
                </a:rPr>
                <a:t>For region search</a:t>
              </a:r>
              <a:endParaRPr lang="en-US" sz="1600"/>
            </a:p>
          </p:txBody>
        </p:sp>
        <p:sp>
          <p:nvSpPr>
            <p:cNvPr id="57" name="Provenance figure legend"/>
            <p:cNvSpPr/>
            <p:nvPr/>
          </p:nvSpPr>
          <p:spPr>
            <a:xfrm>
              <a:off x="137160" y="9966960"/>
              <a:ext cx="8183880" cy="2240280"/>
            </a:xfrm>
            <a:prstGeom prst="rect">
              <a:avLst/>
            </a:prstGeom>
            <a:noFill/>
            <a:ln>
              <a:noFill/>
            </a:ln>
          </p:spPr>
          <p:txBody>
            <a:bodyPr wrap="square" lIns="64008" tIns="0" rIns="64008" bIns="0" anchor="t"/>
            <a:lstStyle/>
            <a:p>
              <a:pPr algn="l">
                <a:spcAft>
                  <a:spcPts val="500"/>
                </a:spcAft>
                <a:buNone/>
              </a:pPr>
              <a:r>
                <a:rPr lang="en-US" sz="1500" b="1">
                  <a:solidFill>
                    <a:srgbClr val="253B4D"/>
                  </a:solidFill>
                  <a:latin typeface="Arial"/>
                </a:rPr>
                <a:t>Figure 1. Provenance of the flatmap-enabled neuron Parquet and regional-profile sidecar.</a:t>
              </a:r>
              <a:endParaRPr lang="en-US" sz="1500"/>
            </a:p>
            <a:p>
              <a:pPr algn="l">
                <a:buNone/>
              </a:pPr>
              <a:r>
                <a:rPr lang="en-US" sz="1500" b="0">
                  <a:solidFill>
                    <a:srgbClr val="253B4D"/>
                  </a:solidFill>
                  <a:latin typeface="Arial"/>
                </a:rPr>
                <a:t>CCFv3-registered SWC reconstructions from the prefrontal cortex and whole-cortex datasets are consolidated into a neuron Parquet using Neuron Navigator. Published cortical flatmap and depth fields are resampled to a 25 µm atlas grid with the atlas-enhancement fork and used to append bilateral flatmap coordinates and cortical depth. Per-neuron summaries derived from Allen atlas annotations are stored in an associated regional-profile Parquet, linked by file_id, to support compound anatomical searches. Arrows indicate preparation dependencies; superscripts identify source references.</a:t>
              </a:r>
              <a:endParaRPr lang="en-US" sz="1500"/>
            </a:p>
          </p:txBody>
        </p:sp>
      </p:grpSp>
      <p:sp>
        <p:nvSpPr>
          <p:cNvPr id="58" name="MOs workflow introduction" descr="Draft introduction, 2026-10-07: biological motivation and planned MOs workflow; no clustering result or IT/PT classification is claimed."/>
          <p:cNvSpPr txBox="1"/>
          <p:nvPr/>
        </p:nvSpPr>
        <p:spPr>
          <a:xfrm>
            <a:off x="1810512" y="5440680"/>
            <a:ext cx="8321040" cy="8732520"/>
          </a:xfrm>
          <a:prstGeom prst="rect">
            <a:avLst/>
          </a:prstGeom>
          <a:noFill/>
          <a:ln>
            <a:noFill/>
          </a:ln>
        </p:spPr>
        <p:txBody>
          <a:bodyPr wrap="square" lIns="64008" tIns="0" rIns="64008" bIns="0" anchor="t">
            <a:noAutofit/>
          </a:bodyPr>
          <a:lstStyle/>
          <a:p>
            <a:pPr algn="l">
              <a:lnSpc>
                <a:spcPct val="105000"/>
              </a:lnSpc>
              <a:spcAft>
                <a:spcPts val="1600"/>
              </a:spcAft>
              <a:buNone/>
            </a:pPr>
            <a:r>
              <a:rPr lang="en-US" sz="2200" b="0">
                <a:solidFill>
                  <a:srgbClr val="253B4D"/>
                </a:solidFill>
                <a:latin typeface="Arial"/>
              </a:rPr>
              <a:t>Mouse secondary motor cortex (Allen region MOs) contains neurons with distinct long-range projection patterns. Layer-5 intratelencephalic (IT) neurons project within the telencephalon, including cortex and striatum, whereas pyramidal tract (PT) neurons also innervate targets beyond it, including brainstem nuclei. Hooks et al. (2018) showed that these classes differ in corticostriatal topography, motivating analysis of projection diversity within a cortical territory.⁹</a:t>
            </a:r>
            <a:endParaRPr lang="en-US" sz="2200"/>
          </a:p>
          <a:p>
            <a:pPr algn="l">
              <a:lnSpc>
                <a:spcPct val="105000"/>
              </a:lnSpc>
              <a:spcAft>
                <a:spcPts val="1600"/>
              </a:spcAft>
              <a:buNone/>
            </a:pPr>
            <a:r>
              <a:rPr lang="en-US" sz="2200" b="0">
                <a:solidFill>
                  <a:srgbClr val="253B4D"/>
                </a:solidFill>
                <a:latin typeface="Arial"/>
              </a:rPr>
              <a:t>Neuron Navigator is an open-source napari plugin for interactive exploration of CCFv3-registered neuron reconstructions.⁶ Developed using 18,621 published murine cortical neurons,¹˒² it links anatomical queries, soma-position clustering, and projection-similarity clustering with single-neuron visualization in whole-brain and cortical-flatmap views.</a:t>
            </a:r>
            <a:endParaRPr lang="en-US" sz="2200"/>
          </a:p>
          <a:p>
            <a:pPr algn="l">
              <a:lnSpc>
                <a:spcPct val="105000"/>
              </a:lnSpc>
              <a:spcAft>
                <a:spcPts val="1600"/>
              </a:spcAft>
              <a:buNone/>
            </a:pPr>
            <a:r>
              <a:rPr lang="en-US" sz="2200" b="0">
                <a:solidFill>
                  <a:srgbClr val="253B4D"/>
                </a:solidFill>
                <a:latin typeface="Arial"/>
              </a:rPr>
              <a:t>Here we ask whether this workflow can help distinguish IT-like and PT-like projection patterns among MOs neurons. We will select neurons with somata in MOs, cluster them by soma proximity, and re-cluster a spatially compact group by projection similarity outside MOs, measured by Pearson correlations between voxel-wise node counts. Whole-brain inspection will assess whether the resulting groups show anatomy consistent with IT-like or PT-like projections. Cluster membership alone does not establish cell identity.</a:t>
            </a:r>
            <a:endParaRPr lang="en-US" sz="22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1090</Words>
  <Application>Microsoft Macintosh PowerPoint</Application>
  <PresentationFormat>Custom</PresentationFormat>
  <Paragraphs>41</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Neuron Navigator: a napari Plugin for Interactive Cluster Analysis of Large Numbers of Neuron Reconstructions</dc:title>
  <dc:subject>Neuron Navigator poster template</dc:subject>
  <dc:creator>OpenAI</dc:creator>
  <cp:lastModifiedBy>Lawrimore, Joshua (NIH/NIMH) [C]</cp:lastModifiedBy>
  <cp:revision>2</cp:revision>
  <dcterms:created xsi:type="dcterms:W3CDTF">2026-10-06T15:21:46Z</dcterms:created>
  <dcterms:modified xsi:type="dcterms:W3CDTF">2026-10-07T18:14:28Z</dcterms:modified>
</cp:coreProperties>
</file>